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55279" y="0"/>
            <a:ext cx="4236415" cy="6858000"/>
          </a:xfrm>
          <a:prstGeom prst="rect">
            <a:avLst/>
          </a:prstGeom>
          <a:solidFill>
            <a:srgbClr val="12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051560"/>
            <a:ext cx="822960" cy="128016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8FB6E8"/>
                </a:solidFill>
                <a:latin typeface="Segoe UI"/>
              </a:rPr>
              <a:t>CYBER RESILIENCE ACT (CRA)  ·  PRODUCT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Segoe UI"/>
              </a:rPr>
              <a:t>Vulnerability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Segoe UI"/>
              </a:rPr>
              <a:t>Management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749807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000" b="0" i="0">
                <a:solidFill>
                  <a:srgbClr val="C6D6EA"/>
                </a:solidFill>
                <a:latin typeface="Segoe UI"/>
              </a:rPr>
              <a:t>A simple system to find, fix, and report security issues in our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000" b="0" i="0">
                <a:solidFill>
                  <a:srgbClr val="C6D6EA"/>
                </a:solidFill>
                <a:latin typeface="Segoe UI"/>
              </a:rPr>
              <a:t>products — on time, and all in one place.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806440"/>
            <a:ext cx="3108960" cy="18288"/>
          </a:xfrm>
          <a:prstGeom prst="rect">
            <a:avLst/>
          </a:prstGeom>
          <a:solidFill>
            <a:srgbClr val="2A4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8A9CB4"/>
                </a:solidFill>
                <a:latin typeface="Segoe UI"/>
              </a:rPr>
              <a:t>Presented by [Your Name]   · 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46304" cy="566928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2D7FF9"/>
                </a:solidFill>
                <a:latin typeface="Segoe UI"/>
              </a:rPr>
              <a:t>THE BIG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2296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14233A"/>
                </a:solidFill>
                <a:latin typeface="Segoe UI"/>
              </a:rPr>
              <a:t>What is this project?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00200"/>
            <a:ext cx="10607040" cy="18288"/>
          </a:xfrm>
          <a:prstGeom prst="rect">
            <a:avLst/>
          </a:prstGeom>
          <a:solidFill>
            <a:srgbClr val="D5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700" b="0" i="0">
                <a:solidFill>
                  <a:srgbClr val="14233A"/>
                </a:solidFill>
                <a:latin typeface="Segoe UI"/>
              </a:rPr>
              <a:t>It is a </a:t>
            </a:r>
            <a:r>
              <a:rPr sz="2700" b="1" i="0">
                <a:solidFill>
                  <a:srgbClr val="2D7FF9"/>
                </a:solidFill>
                <a:latin typeface="Segoe UI"/>
              </a:rPr>
              <a:t>single website</a:t>
            </a:r>
            <a:r>
              <a:rPr sz="2700" b="0" i="0">
                <a:solidFill>
                  <a:srgbClr val="14233A"/>
                </a:solidFill>
                <a:latin typeface="Segoe UI"/>
              </a:rPr>
              <a:t> our security team uses to handle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700" b="0" i="0">
                <a:solidFill>
                  <a:srgbClr val="14233A"/>
                </a:solidFill>
                <a:latin typeface="Segoe UI"/>
              </a:rPr>
              <a:t>security problems found in our products — from the very first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700" b="0" i="0">
                <a:solidFill>
                  <a:srgbClr val="14233A"/>
                </a:solidFill>
                <a:latin typeface="Segoe UI"/>
              </a:rPr>
              <a:t>report all the way to the fix reaching our customers.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343400"/>
            <a:ext cx="10515600" cy="123444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34340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000" b="0" i="0">
                <a:solidFill>
                  <a:srgbClr val="14233A"/>
                </a:solidFill>
                <a:latin typeface="Segoe UI"/>
              </a:rPr>
              <a:t>💡  Think of it as a </a:t>
            </a:r>
            <a:r>
              <a:rPr sz="2000" b="1" i="0">
                <a:solidFill>
                  <a:srgbClr val="14233A"/>
                </a:solidFill>
                <a:latin typeface="Segoe UI"/>
              </a:rPr>
              <a:t>control room</a:t>
            </a:r>
            <a:r>
              <a:rPr sz="2000" b="0" i="0">
                <a:solidFill>
                  <a:srgbClr val="14233A"/>
                </a:solidFill>
                <a:latin typeface="Segoe UI"/>
              </a:rPr>
              <a:t> for product security — where every issue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000" b="0" i="0">
                <a:solidFill>
                  <a:srgbClr val="14233A"/>
                </a:solidFill>
                <a:latin typeface="Segoe UI"/>
              </a:rPr>
              <a:t>     is seen, tracked, and taken care of until it is fully resolved.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Segoe UI"/>
              </a:rPr>
              <a:t>Vulnerability Management Tool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46304" cy="566928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029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14233A"/>
                </a:solidFill>
                <a:latin typeface="Segoe UI"/>
              </a:rPr>
              <a:t>Why do we need it?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80160"/>
            <a:ext cx="10607040" cy="18288"/>
          </a:xfrm>
          <a:prstGeom prst="rect">
            <a:avLst/>
          </a:prstGeom>
          <a:solidFill>
            <a:srgbClr val="D5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822960" cy="82296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14233A"/>
                </a:solidFill>
                <a:latin typeface="Segoe UI"/>
              </a:rPr>
              <a:t>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783080"/>
            <a:ext cx="9509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100" b="1" i="0">
                <a:solidFill>
                  <a:srgbClr val="14233A"/>
                </a:solidFill>
                <a:latin typeface="Segoe UI"/>
              </a:rPr>
              <a:t>Products can have weaknesses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50" b="0" i="0">
                <a:solidFill>
                  <a:srgbClr val="5B6B7F"/>
                </a:solidFill>
                <a:latin typeface="Segoe UI"/>
              </a:rPr>
              <a:t>Even well-made products can have security weaknesses — much like a good lock that can still be picked.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46120"/>
            <a:ext cx="822960" cy="82296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14233A"/>
                </a:solidFill>
                <a:latin typeface="Segoe UI"/>
              </a:rPr>
              <a:t>⚖️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200400"/>
            <a:ext cx="9509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100" b="1" i="0">
                <a:solidFill>
                  <a:srgbClr val="14233A"/>
                </a:solidFill>
                <a:latin typeface="Segoe UI"/>
              </a:rPr>
              <a:t>The law requires it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50" b="0" i="0">
                <a:solidFill>
                  <a:srgbClr val="5B6B7F"/>
                </a:solidFill>
                <a:latin typeface="Segoe UI"/>
              </a:rPr>
              <a:t>A new EU law (the Cyber Resilience Act) requires us to fix and report these issues within strict deadlines.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663440"/>
            <a:ext cx="822960" cy="82296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66344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14233A"/>
                </a:solidFill>
                <a:latin typeface="Segoe UI"/>
              </a:rPr>
              <a:t>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617720"/>
            <a:ext cx="9509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100" b="1" i="0">
                <a:solidFill>
                  <a:srgbClr val="14233A"/>
                </a:solidFill>
                <a:latin typeface="Segoe UI"/>
              </a:rPr>
              <a:t>Our team is global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50" b="0" i="0">
                <a:solidFill>
                  <a:srgbClr val="5B6B7F"/>
                </a:solidFill>
                <a:latin typeface="Segoe UI"/>
              </a:rPr>
              <a:t>With team members in different countries, we need one shared place where nothing gets lost or forgotten.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Segoe UI"/>
              </a:rPr>
              <a:t>Vulnerability Management Tool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46304" cy="566928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029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14233A"/>
                </a:solidFill>
                <a:latin typeface="Segoe UI"/>
              </a:rPr>
              <a:t>What does the tool do?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80160"/>
            <a:ext cx="10607040" cy="18288"/>
          </a:xfrm>
          <a:prstGeom prst="rect">
            <a:avLst/>
          </a:prstGeom>
          <a:solidFill>
            <a:srgbClr val="D5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4983480" cy="1783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5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130552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14233A"/>
                </a:solidFill>
                <a:latin typeface="Segoe UI"/>
              </a:rPr>
              <a:t>📋  Keeps a 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389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50" b="0" i="0">
                <a:solidFill>
                  <a:srgbClr val="5B6B7F"/>
                </a:solidFill>
                <a:latin typeface="Segoe UI"/>
              </a:rPr>
              <a:t>Logs every reported security issue in one place.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874519"/>
            <a:ext cx="4983480" cy="1783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5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30552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14233A"/>
                </a:solidFill>
                <a:latin typeface="Segoe UI"/>
              </a:rPr>
              <a:t>🧭  Guides the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743200"/>
            <a:ext cx="4389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50" b="0" i="0">
                <a:solidFill>
                  <a:srgbClr val="5B6B7F"/>
                </a:solidFill>
                <a:latin typeface="Segoe UI"/>
              </a:rPr>
              <a:t>Walks everyone through the process step-by-step, so no step is missed.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977639"/>
            <a:ext cx="4983480" cy="1783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5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233672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14233A"/>
                </a:solidFill>
                <a:latin typeface="Segoe UI"/>
              </a:rPr>
              <a:t>⏱️  Tracks deadlines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846320"/>
            <a:ext cx="4389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50" b="0" i="0">
                <a:solidFill>
                  <a:srgbClr val="5B6B7F"/>
                </a:solidFill>
                <a:latin typeface="Segoe UI"/>
              </a:rPr>
              <a:t>Automatically counts down the legal reporting deadlines.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977639"/>
            <a:ext cx="4983480" cy="1783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5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4233672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14233A"/>
                </a:solidFill>
                <a:latin typeface="Segoe UI"/>
              </a:rPr>
              <a:t>🤝  Keeps everyone aligned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846320"/>
            <a:ext cx="4389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50" b="0" i="0">
                <a:solidFill>
                  <a:srgbClr val="5B6B7F"/>
                </a:solidFill>
                <a:latin typeface="Segoe UI"/>
              </a:rPr>
              <a:t>The whole team — across countries — sees the same up-to-date picture.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Segoe UI"/>
              </a:rPr>
              <a:t>Vulnerability Management Tool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46304" cy="566928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2D7FF9"/>
                </a:solidFill>
                <a:latin typeface="Segoe UI"/>
              </a:rPr>
              <a:t>THE JOURNEY OF A SECURITY ISSUE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2296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14233A"/>
                </a:solidFill>
                <a:latin typeface="Segoe UI"/>
              </a:rPr>
              <a:t>How it works — 5 simple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00200"/>
            <a:ext cx="10607040" cy="18288"/>
          </a:xfrm>
          <a:prstGeom prst="rect">
            <a:avLst/>
          </a:prstGeom>
          <a:solidFill>
            <a:srgbClr val="D5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1911095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7F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57300" y="2404872"/>
            <a:ext cx="768096" cy="768096"/>
          </a:xfrm>
          <a:prstGeom prst="ellipse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57300" y="2404872"/>
            <a:ext cx="768096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91840"/>
            <a:ext cx="1728216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14233A"/>
                </a:solidFill>
                <a:latin typeface="Segoe UI"/>
              </a:rPr>
              <a:t>Receipt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96312" y="2766060"/>
            <a:ext cx="457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B6B7F"/>
                </a:solidFill>
                <a:latin typeface="Segoe U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71215" y="2148840"/>
            <a:ext cx="1911095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42715" y="2404872"/>
            <a:ext cx="768096" cy="768096"/>
          </a:xfrm>
          <a:prstGeom prst="ellipse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2715" y="2404872"/>
            <a:ext cx="768096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62656" y="3291840"/>
            <a:ext cx="1728216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14233A"/>
                </a:solidFill>
                <a:latin typeface="Segoe UI"/>
              </a:rPr>
              <a:t>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7" y="2766060"/>
            <a:ext cx="457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B6B7F"/>
                </a:solidFill>
                <a:latin typeface="Segoe U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56631" y="2148840"/>
            <a:ext cx="1911095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28131" y="2404872"/>
            <a:ext cx="768096" cy="768096"/>
          </a:xfrm>
          <a:prstGeom prst="ellipse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28131" y="2404872"/>
            <a:ext cx="768096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8071" y="3291840"/>
            <a:ext cx="1728216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14233A"/>
                </a:solidFill>
                <a:latin typeface="Segoe UI"/>
              </a:rPr>
              <a:t>Remediation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67143" y="2766060"/>
            <a:ext cx="457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B6B7F"/>
                </a:solidFill>
                <a:latin typeface="Segoe U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42047" y="2148840"/>
            <a:ext cx="1911095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8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813548" y="2404872"/>
            <a:ext cx="768096" cy="768096"/>
          </a:xfrm>
          <a:prstGeom prst="ellipse">
            <a:avLst/>
          </a:prstGeom>
          <a:solidFill>
            <a:srgbClr val="E0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3548" y="2404872"/>
            <a:ext cx="768096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3488" y="3291840"/>
            <a:ext cx="1728216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14233A"/>
                </a:solidFill>
                <a:latin typeface="Segoe UI"/>
              </a:rPr>
              <a:t>Disclosure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59" y="2766060"/>
            <a:ext cx="457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B6B7F"/>
                </a:solidFill>
                <a:latin typeface="Segoe UI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27463" y="2148840"/>
            <a:ext cx="1911095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A8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98963" y="2404872"/>
            <a:ext cx="768096" cy="768096"/>
          </a:xfrm>
          <a:prstGeom prst="ellipse">
            <a:avLst/>
          </a:prstGeom>
          <a:solidFill>
            <a:srgbClr val="1FA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98963" y="2404872"/>
            <a:ext cx="768096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18903" y="3291840"/>
            <a:ext cx="1728216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14233A"/>
                </a:solidFill>
                <a:latin typeface="Segoe UI"/>
              </a:rPr>
              <a:t>Security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14233A"/>
                </a:solidFill>
                <a:latin typeface="Segoe UI"/>
              </a:rPr>
              <a:t>Update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61772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0" i="0">
                <a:solidFill>
                  <a:srgbClr val="5B6B7F"/>
                </a:solidFill>
                <a:latin typeface="Segoe UI"/>
              </a:rPr>
              <a:t>Every security issue travels through these five steps — in order, from start to finish.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Segoe UI"/>
              </a:rPr>
              <a:t>Vulnerability Management Tool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685800"/>
            <a:ext cx="1051560" cy="1051560"/>
          </a:xfrm>
          <a:prstGeom prst="ellipse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10515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658368"/>
            <a:ext cx="40233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 i="0">
                <a:solidFill>
                  <a:srgbClr val="2D7FF9"/>
                </a:solidFill>
                <a:latin typeface="Segoe UI"/>
              </a:rPr>
              <a:t>STEP 1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14233A"/>
                </a:solidFill>
                <a:latin typeface="Segoe UI"/>
              </a:rPr>
              <a:t>Receipt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48463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2D7FF9"/>
                </a:solidFill>
                <a:latin typeface="Segoe UI"/>
              </a:rPr>
              <a:t>What happens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0" i="0">
                <a:solidFill>
                  <a:srgbClr val="14233A"/>
                </a:solidFill>
                <a:latin typeface="Segoe UI"/>
              </a:rPr>
              <a:t>A security issue is reported. We log it and thank the person who reported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160520"/>
            <a:ext cx="4846320" cy="1828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5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389120"/>
            <a:ext cx="4343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1" i="0">
                <a:solidFill>
                  <a:srgbClr val="14233A"/>
                </a:solidFill>
                <a:latin typeface="Segoe UI"/>
              </a:rPr>
              <a:t>💡  In simple words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600" b="0" i="1">
                <a:solidFill>
                  <a:srgbClr val="5B6B7F"/>
                </a:solidFill>
                <a:latin typeface="Segoe UI"/>
              </a:rPr>
              <a:t>Like a help desk writing down your complaint and giving you a ticket number, so it is never forgotten.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234440"/>
            <a:ext cx="5532120" cy="4709160"/>
          </a:xfrm>
          <a:prstGeom prst="roundRect">
            <a:avLst/>
          </a:prstGeom>
          <a:solidFill>
            <a:srgbClr val="EEF2F7"/>
          </a:solidFill>
          <a:ln w="22225">
            <a:solidFill>
              <a:srgbClr val="2D7F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234440"/>
            <a:ext cx="5532120" cy="4709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4000" b="0" i="0">
                <a:solidFill>
                  <a:srgbClr val="2D7FF9"/>
                </a:solidFill>
                <a:latin typeface="Segoe UI"/>
              </a:rPr>
              <a:t>📷</a:t>
            </a:r>
          </a:p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14233A"/>
                </a:solidFill>
                <a:latin typeface="Segoe UI"/>
              </a:rPr>
              <a:t>Screenshot: Receipt screen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5B6B7F"/>
                </a:solidFill>
                <a:latin typeface="Segoe UI"/>
              </a:rPr>
              <a:t>Paste your screenshot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Segoe UI"/>
              </a:rPr>
              <a:t>The 5 steps  ·  Step 1 of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685800"/>
            <a:ext cx="1051560" cy="1051560"/>
          </a:xfrm>
          <a:prstGeom prst="ellipse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10515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658368"/>
            <a:ext cx="40233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 i="0">
                <a:solidFill>
                  <a:srgbClr val="7C4DFF"/>
                </a:solidFill>
                <a:latin typeface="Segoe UI"/>
              </a:rPr>
              <a:t>STEP 2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14233A"/>
                </a:solidFill>
                <a:latin typeface="Segoe UI"/>
              </a:rPr>
              <a:t>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48463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7C4DFF"/>
                </a:solidFill>
                <a:latin typeface="Segoe UI"/>
              </a:rPr>
              <a:t>What happens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0" i="0">
                <a:solidFill>
                  <a:srgbClr val="14233A"/>
                </a:solidFill>
                <a:latin typeface="Segoe UI"/>
              </a:rPr>
              <a:t>We check whether the issue is real, and how serious it 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160520"/>
            <a:ext cx="4846320" cy="1828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5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389120"/>
            <a:ext cx="4343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1" i="0">
                <a:solidFill>
                  <a:srgbClr val="14233A"/>
                </a:solidFill>
                <a:latin typeface="Segoe UI"/>
              </a:rPr>
              <a:t>💡  In simple words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600" b="0" i="1">
                <a:solidFill>
                  <a:srgbClr val="5B6B7F"/>
                </a:solidFill>
                <a:latin typeface="Segoe UI"/>
              </a:rPr>
              <a:t>Like a doctor confirming the illness and how severe it is before deciding on treatment.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234440"/>
            <a:ext cx="5532120" cy="4709160"/>
          </a:xfrm>
          <a:prstGeom prst="roundRect">
            <a:avLst/>
          </a:prstGeom>
          <a:solidFill>
            <a:srgbClr val="EEF2F7"/>
          </a:solidFill>
          <a:ln w="2222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234440"/>
            <a:ext cx="5532120" cy="4709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4000" b="0" i="0">
                <a:solidFill>
                  <a:srgbClr val="7C4DFF"/>
                </a:solidFill>
                <a:latin typeface="Segoe UI"/>
              </a:rPr>
              <a:t>📷</a:t>
            </a:r>
          </a:p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14233A"/>
                </a:solidFill>
                <a:latin typeface="Segoe UI"/>
              </a:rPr>
              <a:t>Screenshot: Verification screen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5B6B7F"/>
                </a:solidFill>
                <a:latin typeface="Segoe UI"/>
              </a:rPr>
              <a:t>Paste your screenshot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Segoe UI"/>
              </a:rPr>
              <a:t>The 5 steps  ·  Step 2 of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685800"/>
            <a:ext cx="1051560" cy="1051560"/>
          </a:xfrm>
          <a:prstGeom prst="ellipse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10515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658368"/>
            <a:ext cx="40233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 i="0">
                <a:solidFill>
                  <a:srgbClr val="12A594"/>
                </a:solidFill>
                <a:latin typeface="Segoe UI"/>
              </a:rPr>
              <a:t>STEP 3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14233A"/>
                </a:solidFill>
                <a:latin typeface="Segoe UI"/>
              </a:rPr>
              <a:t>Remediation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48463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12A594"/>
                </a:solidFill>
                <a:latin typeface="Segoe UI"/>
              </a:rPr>
              <a:t>What happens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0" i="0">
                <a:solidFill>
                  <a:srgbClr val="14233A"/>
                </a:solidFill>
                <a:latin typeface="Segoe UI"/>
              </a:rPr>
              <a:t>We fix the issue — usually with a software update or a safe workaround.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160520"/>
            <a:ext cx="4846320" cy="1828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5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389120"/>
            <a:ext cx="4343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1" i="0">
                <a:solidFill>
                  <a:srgbClr val="14233A"/>
                </a:solidFill>
                <a:latin typeface="Segoe UI"/>
              </a:rPr>
              <a:t>💡  In simple words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600" b="0" i="1">
                <a:solidFill>
                  <a:srgbClr val="5B6B7F"/>
                </a:solidFill>
                <a:latin typeface="Segoe UI"/>
              </a:rPr>
              <a:t>Like a mechanic repairing the fault so the product is safe to use again.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234440"/>
            <a:ext cx="5532120" cy="4709160"/>
          </a:xfrm>
          <a:prstGeom prst="roundRect">
            <a:avLst/>
          </a:prstGeom>
          <a:solidFill>
            <a:srgbClr val="EEF2F7"/>
          </a:solidFill>
          <a:ln w="22225">
            <a:solidFill>
              <a:srgbClr val="12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234440"/>
            <a:ext cx="5532120" cy="4709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4000" b="0" i="0">
                <a:solidFill>
                  <a:srgbClr val="12A594"/>
                </a:solidFill>
                <a:latin typeface="Segoe UI"/>
              </a:rPr>
              <a:t>📷</a:t>
            </a:r>
          </a:p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14233A"/>
                </a:solidFill>
                <a:latin typeface="Segoe UI"/>
              </a:rPr>
              <a:t>Screenshot: Remediation screen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5B6B7F"/>
                </a:solidFill>
                <a:latin typeface="Segoe UI"/>
              </a:rPr>
              <a:t>Paste your screenshot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Segoe UI"/>
              </a:rPr>
              <a:t>The 5 steps  ·  Step 3 of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0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685800"/>
            <a:ext cx="1051560" cy="1051560"/>
          </a:xfrm>
          <a:prstGeom prst="ellipse">
            <a:avLst/>
          </a:prstGeom>
          <a:solidFill>
            <a:srgbClr val="E0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10515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658368"/>
            <a:ext cx="40233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 i="0">
                <a:solidFill>
                  <a:srgbClr val="E08A0B"/>
                </a:solidFill>
                <a:latin typeface="Segoe UI"/>
              </a:rPr>
              <a:t>STEP 4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14233A"/>
                </a:solidFill>
                <a:latin typeface="Segoe UI"/>
              </a:rPr>
              <a:t>Disclosure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48463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E08A0B"/>
                </a:solidFill>
                <a:latin typeface="Segoe UI"/>
              </a:rPr>
              <a:t>What happens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0" i="0">
                <a:solidFill>
                  <a:srgbClr val="14233A"/>
                </a:solidFill>
                <a:latin typeface="Segoe UI"/>
              </a:rPr>
              <a:t>We inform our customers and the required authorities, and publish an official notice.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160520"/>
            <a:ext cx="4846320" cy="1828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5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389120"/>
            <a:ext cx="4343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1" i="0">
                <a:solidFill>
                  <a:srgbClr val="14233A"/>
                </a:solidFill>
                <a:latin typeface="Segoe UI"/>
              </a:rPr>
              <a:t>💡  In simple words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600" b="0" i="1">
                <a:solidFill>
                  <a:srgbClr val="5B6B7F"/>
                </a:solidFill>
                <a:latin typeface="Segoe UI"/>
              </a:rPr>
              <a:t>Like a public safety notice that tells everyone what happened and what to 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234440"/>
            <a:ext cx="5532120" cy="4709160"/>
          </a:xfrm>
          <a:prstGeom prst="roundRect">
            <a:avLst/>
          </a:prstGeom>
          <a:solidFill>
            <a:srgbClr val="EEF2F7"/>
          </a:solidFill>
          <a:ln w="22225">
            <a:solidFill>
              <a:srgbClr val="E08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234440"/>
            <a:ext cx="5532120" cy="4709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4000" b="0" i="0">
                <a:solidFill>
                  <a:srgbClr val="E08A0B"/>
                </a:solidFill>
                <a:latin typeface="Segoe UI"/>
              </a:rPr>
              <a:t>📷</a:t>
            </a:r>
          </a:p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14233A"/>
                </a:solidFill>
                <a:latin typeface="Segoe UI"/>
              </a:rPr>
              <a:t>Screenshot: Disclosure screen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5B6B7F"/>
                </a:solidFill>
                <a:latin typeface="Segoe UI"/>
              </a:rPr>
              <a:t>Paste your screenshot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Segoe UI"/>
              </a:rPr>
              <a:t>The 5 steps  ·  Step 4 of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A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685800"/>
            <a:ext cx="1051560" cy="1051560"/>
          </a:xfrm>
          <a:prstGeom prst="ellipse">
            <a:avLst/>
          </a:prstGeom>
          <a:solidFill>
            <a:srgbClr val="1FA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10515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658368"/>
            <a:ext cx="40233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 i="0">
                <a:solidFill>
                  <a:srgbClr val="1FA85F"/>
                </a:solidFill>
                <a:latin typeface="Segoe UI"/>
              </a:rPr>
              <a:t>STEP 5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14233A"/>
                </a:solidFill>
                <a:latin typeface="Segoe UI"/>
              </a:rPr>
              <a:t>Distribution of Security Updates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48463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1FA85F"/>
                </a:solidFill>
                <a:latin typeface="Segoe UI"/>
              </a:rPr>
              <a:t>What happens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0" i="0">
                <a:solidFill>
                  <a:srgbClr val="14233A"/>
                </a:solidFill>
                <a:latin typeface="Segoe UI"/>
              </a:rPr>
              <a:t>We deliver the fix so customers can update and protect their products.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160520"/>
            <a:ext cx="4846320" cy="1828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5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389120"/>
            <a:ext cx="4343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1" i="0">
                <a:solidFill>
                  <a:srgbClr val="14233A"/>
                </a:solidFill>
                <a:latin typeface="Segoe UI"/>
              </a:rPr>
              <a:t>💡  In simple words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600" b="0" i="1">
                <a:solidFill>
                  <a:srgbClr val="5B6B7F"/>
                </a:solidFill>
                <a:latin typeface="Segoe UI"/>
              </a:rPr>
              <a:t>Like sending out a recall repair, so every product in the field becomes safe again.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234440"/>
            <a:ext cx="5532120" cy="4709160"/>
          </a:xfrm>
          <a:prstGeom prst="roundRect">
            <a:avLst/>
          </a:prstGeom>
          <a:solidFill>
            <a:srgbClr val="EEF2F7"/>
          </a:solidFill>
          <a:ln w="22225">
            <a:solidFill>
              <a:srgbClr val="1FA8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234440"/>
            <a:ext cx="5532120" cy="4709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4000" b="0" i="0">
                <a:solidFill>
                  <a:srgbClr val="1FA85F"/>
                </a:solidFill>
                <a:latin typeface="Segoe UI"/>
              </a:rPr>
              <a:t>📷</a:t>
            </a:r>
          </a:p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14233A"/>
                </a:solidFill>
                <a:latin typeface="Segoe UI"/>
              </a:rPr>
              <a:t>Screenshot: Distribution screen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5B6B7F"/>
                </a:solidFill>
                <a:latin typeface="Segoe UI"/>
              </a:rPr>
              <a:t>Paste your screenshot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Segoe UI"/>
              </a:rPr>
              <a:t>The 5 steps  ·  Step 5 of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46304" cy="566928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2D7FF9"/>
                </a:solidFill>
                <a:latin typeface="Segoe UI"/>
              </a:rPr>
              <a:t>BEHIND THE SCENES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2296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14233A"/>
                </a:solidFill>
                <a:latin typeface="Segoe UI"/>
              </a:rPr>
              <a:t>What makes it reliable?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00200"/>
            <a:ext cx="10607040" cy="18288"/>
          </a:xfrm>
          <a:prstGeom prst="rect">
            <a:avLst/>
          </a:prstGeom>
          <a:solidFill>
            <a:srgbClr val="D5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822960" cy="82296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14233A"/>
                </a:solidFill>
                <a:latin typeface="Segoe UI"/>
              </a:rPr>
              <a:t>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783080"/>
            <a:ext cx="9509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100" b="1" i="0">
                <a:solidFill>
                  <a:srgbClr val="14233A"/>
                </a:solidFill>
                <a:latin typeface="Segoe UI"/>
              </a:rPr>
              <a:t>A complete history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50" b="0" i="0">
                <a:solidFill>
                  <a:srgbClr val="5B6B7F"/>
                </a:solidFill>
                <a:latin typeface="Segoe UI"/>
              </a:rPr>
              <a:t>Every action is recorded automatically — like a flight recorder. Nothing can be hidden or lost.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46120"/>
            <a:ext cx="822960" cy="82296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4612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14233A"/>
                </a:solidFill>
                <a:latin typeface="Segoe UI"/>
              </a:rPr>
              <a:t>⏱️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200400"/>
            <a:ext cx="9509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100" b="1" i="0">
                <a:solidFill>
                  <a:srgbClr val="14233A"/>
                </a:solidFill>
                <a:latin typeface="Segoe UI"/>
              </a:rPr>
              <a:t>Never miss a deadline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50" b="0" i="0">
                <a:solidFill>
                  <a:srgbClr val="5B6B7F"/>
                </a:solidFill>
                <a:latin typeface="Segoe UI"/>
              </a:rPr>
              <a:t>The tool tracks every legal reporting deadline and shows the time remaining.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663440"/>
            <a:ext cx="822960" cy="82296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66344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14233A"/>
                </a:solidFill>
                <a:latin typeface="Segoe UI"/>
              </a:rPr>
              <a:t>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4617720"/>
            <a:ext cx="9509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100" b="1" i="0">
                <a:solidFill>
                  <a:srgbClr val="14233A"/>
                </a:solidFill>
                <a:latin typeface="Segoe UI"/>
              </a:rPr>
              <a:t>Built for a global team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50" b="0" i="0">
                <a:solidFill>
                  <a:srgbClr val="5B6B7F"/>
                </a:solidFill>
                <a:latin typeface="Segoe UI"/>
              </a:rPr>
              <a:t>Dates and times can be shown in each person's own time zone — Germany, India, China, and more.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Segoe UI"/>
              </a:rPr>
              <a:t>Vulnerability Management 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822960" cy="128016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In short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487168"/>
            <a:ext cx="292608" cy="292608"/>
          </a:xfrm>
          <a:prstGeom prst="ellipse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468880"/>
            <a:ext cx="274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0E1E33"/>
                </a:solidFill>
                <a:latin typeface="Segoe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37744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0" i="0">
                <a:solidFill>
                  <a:srgbClr val="FFFFFF"/>
                </a:solidFill>
                <a:latin typeface="Segoe UI"/>
              </a:rPr>
              <a:t>Faster response to security issues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355848"/>
            <a:ext cx="292608" cy="292608"/>
          </a:xfrm>
          <a:prstGeom prst="ellipse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337560"/>
            <a:ext cx="274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0E1E33"/>
                </a:solidFill>
                <a:latin typeface="Segoe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24612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0" i="0">
                <a:solidFill>
                  <a:srgbClr val="FFFFFF"/>
                </a:solidFill>
                <a:latin typeface="Segoe UI"/>
              </a:rPr>
              <a:t>Full compliance with the law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224528"/>
            <a:ext cx="292608" cy="292608"/>
          </a:xfrm>
          <a:prstGeom prst="ellipse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206240"/>
            <a:ext cx="274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0E1E33"/>
                </a:solidFill>
                <a:latin typeface="Segoe U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11480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0" i="0">
                <a:solidFill>
                  <a:srgbClr val="FFFFFF"/>
                </a:solidFill>
                <a:latin typeface="Segoe UI"/>
              </a:rPr>
              <a:t>Nothing slips through the cracks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5093208"/>
            <a:ext cx="292608" cy="292608"/>
          </a:xfrm>
          <a:prstGeom prst="ellipse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5074920"/>
            <a:ext cx="274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0E1E33"/>
                </a:solidFill>
                <a:latin typeface="Segoe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98348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0" i="0">
                <a:solidFill>
                  <a:srgbClr val="FFFFFF"/>
                </a:solidFill>
                <a:latin typeface="Segoe UI"/>
              </a:rPr>
              <a:t>One clear, shared process for the whole 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Segoe UI"/>
              </a:rPr>
              <a:t>Vulnerability Management Tool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468880"/>
            <a:ext cx="12191695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56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749039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0" i="0">
                <a:solidFill>
                  <a:srgbClr val="B9CCE6"/>
                </a:solidFill>
                <a:latin typeface="Segoe UI"/>
              </a:rPr>
              <a:t>Questions are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